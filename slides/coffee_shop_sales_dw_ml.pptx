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da3f5568e94a7b" /><Relationship Type="http://schemas.openxmlformats.org/officeDocument/2006/relationships/extended-properties" Target="/docProps/app.xml" Id="Rd5ea8b1199914fa9" /><Relationship Type="http://schemas.openxmlformats.org/officeDocument/2006/relationships/officeDocument" Target="/ppt/presentation.xml" Id="Rd2905bc7b89f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d7207ab6cd45ec"/>
  </p:sldMasterIdLst>
  <p:notesMasterIdLst>
    <p:notesMasterId xmlns:r="http://schemas.openxmlformats.org/officeDocument/2006/relationships" r:id="R2441a59a0ed34ef1"/>
  </p:notesMasterIdLst>
  <p:sldIdLst>
    <p:sldId xmlns:r="http://schemas.openxmlformats.org/officeDocument/2006/relationships" id="256" r:id="R066e15580bf94b57"/>
    <p:sldId xmlns:r="http://schemas.openxmlformats.org/officeDocument/2006/relationships" id="257" r:id="R8fb8113ad3f3445f"/>
    <p:sldId xmlns:r="http://schemas.openxmlformats.org/officeDocument/2006/relationships" id="258" r:id="Rdddbd39ecc6b4520"/>
    <p:sldId xmlns:r="http://schemas.openxmlformats.org/officeDocument/2006/relationships" id="259" r:id="Rcb3e6cb679af41f5"/>
    <p:sldId xmlns:r="http://schemas.openxmlformats.org/officeDocument/2006/relationships" id="260" r:id="R0f09b324b0b14583"/>
    <p:sldId xmlns:r="http://schemas.openxmlformats.org/officeDocument/2006/relationships" id="261" r:id="R0d054d8ec22f4375"/>
    <p:sldId xmlns:r="http://schemas.openxmlformats.org/officeDocument/2006/relationships" id="262" r:id="R6e1016fa19424fef"/>
    <p:sldId xmlns:r="http://schemas.openxmlformats.org/officeDocument/2006/relationships" id="263" r:id="R54a360e07eb84a17"/>
    <p:sldId xmlns:r="http://schemas.openxmlformats.org/officeDocument/2006/relationships" id="264" r:id="R0f82512034ae4aed"/>
    <p:sldId xmlns:r="http://schemas.openxmlformats.org/officeDocument/2006/relationships" id="265" r:id="R8887c9bcd6664c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7207ab6cd45ec" /><Relationship Type="http://schemas.openxmlformats.org/officeDocument/2006/relationships/theme" Target="/ppt/theme/theme1.xml" Id="Rfe85ff2dc1e341bd" /><Relationship Type="http://schemas.openxmlformats.org/officeDocument/2006/relationships/notesMaster" Target="/ppt/notesMasters/notesMaster1.xml" Id="R2441a59a0ed34ef1" /><Relationship Type="http://schemas.openxmlformats.org/officeDocument/2006/relationships/presProps" Target="/ppt/presProps.xml" Id="R8f4971ed2c15463b" /><Relationship Type="http://schemas.openxmlformats.org/officeDocument/2006/relationships/viewProps" Target="/ppt/viewProps.xml" Id="Rf1d91f40e2ae4955" /><Relationship Type="http://schemas.openxmlformats.org/officeDocument/2006/relationships/tableStyles" Target="/ppt/tableStyles.xml" Id="Rb4d6b70e6e6d434b" /><Relationship Type="http://schemas.openxmlformats.org/officeDocument/2006/relationships/slide" Target="/ppt/slides/slide1.xml" Id="R066e15580bf94b57" /><Relationship Type="http://schemas.openxmlformats.org/officeDocument/2006/relationships/slide" Target="/ppt/slides/slide2.xml" Id="R8fb8113ad3f3445f" /><Relationship Type="http://schemas.openxmlformats.org/officeDocument/2006/relationships/slide" Target="/ppt/slides/slide3.xml" Id="Rdddbd39ecc6b4520" /><Relationship Type="http://schemas.openxmlformats.org/officeDocument/2006/relationships/slide" Target="/ppt/slides/slide4.xml" Id="Rcb3e6cb679af41f5" /><Relationship Type="http://schemas.openxmlformats.org/officeDocument/2006/relationships/slide" Target="/ppt/slides/slide5.xml" Id="R0f09b324b0b14583" /><Relationship Type="http://schemas.openxmlformats.org/officeDocument/2006/relationships/slide" Target="/ppt/slides/slide6.xml" Id="R0d054d8ec22f4375" /><Relationship Type="http://schemas.openxmlformats.org/officeDocument/2006/relationships/slide" Target="/ppt/slides/slide7.xml" Id="R6e1016fa19424fef" /><Relationship Type="http://schemas.openxmlformats.org/officeDocument/2006/relationships/slide" Target="/ppt/slides/slide8.xml" Id="R54a360e07eb84a17" /><Relationship Type="http://schemas.openxmlformats.org/officeDocument/2006/relationships/slide" Target="/ppt/slides/slide9.xml" Id="R0f82512034ae4aed" /><Relationship Type="http://schemas.openxmlformats.org/officeDocument/2006/relationships/slide" Target="/ppt/slides/slide10.xml" Id="R8887c9bcd6664c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65686ddca0a42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70de57ba74276" /><Relationship Type="http://schemas.openxmlformats.org/officeDocument/2006/relationships/notesMaster" Target="/ppt/notesMasters/notesMaster1.xml" Id="R5c2fed20b59f4c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394b6ab35a4c9a" /><Relationship Type="http://schemas.openxmlformats.org/officeDocument/2006/relationships/notesMaster" Target="/ppt/notesMasters/notesMaster1.xml" Id="R81255032e16c4f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1496489d2b4eb0" /><Relationship Type="http://schemas.openxmlformats.org/officeDocument/2006/relationships/notesMaster" Target="/ppt/notesMasters/notesMaster1.xml" Id="Reff25c54f85347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fe99e358fe4adc" /><Relationship Type="http://schemas.openxmlformats.org/officeDocument/2006/relationships/notesMaster" Target="/ppt/notesMasters/notesMaster1.xml" Id="R47ef5ca5a40d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7b3937c4649ec" /><Relationship Type="http://schemas.openxmlformats.org/officeDocument/2006/relationships/notesMaster" Target="/ppt/notesMasters/notesMaster1.xml" Id="R6c65dca7713343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7f8a20682f44ea" /><Relationship Type="http://schemas.openxmlformats.org/officeDocument/2006/relationships/notesMaster" Target="/ppt/notesMasters/notesMaster1.xml" Id="Racde76061a3448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7bcec1e12748e7" /><Relationship Type="http://schemas.openxmlformats.org/officeDocument/2006/relationships/notesMaster" Target="/ppt/notesMasters/notesMaster1.xml" Id="Rbb6e809530044e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bcb641f7924168" /><Relationship Type="http://schemas.openxmlformats.org/officeDocument/2006/relationships/notesMaster" Target="/ppt/notesMasters/notesMaster1.xml" Id="Ra880eb5db838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bf49875a12405c" /><Relationship Type="http://schemas.openxmlformats.org/officeDocument/2006/relationships/notesMaster" Target="/ppt/notesMasters/notesMaster1.xml" Id="Rea720773275d4f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db7ac0380449d0" /><Relationship Type="http://schemas.openxmlformats.org/officeDocument/2006/relationships/notesMaster" Target="/ppt/notesMasters/notesMaster1.xml" Id="R9fa72680b53147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75f19ff40494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c792a7895bb4c1f" /><Relationship Type="http://schemas.openxmlformats.org/officeDocument/2006/relationships/slideLayout" Target="/ppt/slideLayouts/slideLayout2.xml" Id="Rd1c501e667b444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c501e667b444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866790f6c4e48" /><Relationship Type="http://schemas.openxmlformats.org/officeDocument/2006/relationships/notesSlide" Target="/ppt/notesSlides/notesSlide1.xml" Id="R3cfdd92f91a5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7d407366474867" /><Relationship Type="http://schemas.openxmlformats.org/officeDocument/2006/relationships/notesSlide" Target="/ppt/notesSlides/notesSlide2.xml" Id="Ra28572c84c0b44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b77a52049f4631" /><Relationship Type="http://schemas.openxmlformats.org/officeDocument/2006/relationships/notesSlide" Target="/ppt/notesSlides/notesSlide3.xml" Id="Rd0649ceaf3a949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311a0d96e34fbd" /><Relationship Type="http://schemas.openxmlformats.org/officeDocument/2006/relationships/notesSlide" Target="/ppt/notesSlides/notesSlide4.xml" Id="R738cb2b5266949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025c42546c4956" /><Relationship Type="http://schemas.openxmlformats.org/officeDocument/2006/relationships/image" Target="/ppt/media/image.png" Id="R43cc33b9055041b3" /><Relationship Type="http://schemas.openxmlformats.org/officeDocument/2006/relationships/notesSlide" Target="/ppt/notesSlides/notesSlide5.xml" Id="R8dac8f71975943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7d3f59b97a4b82" /><Relationship Type="http://schemas.openxmlformats.org/officeDocument/2006/relationships/image" Target="/ppt/media/image2.png" Id="R289162b4003a44ff" /><Relationship Type="http://schemas.openxmlformats.org/officeDocument/2006/relationships/image" Target="/ppt/media/image3.png" Id="R15e6ef88d0794692" /><Relationship Type="http://schemas.openxmlformats.org/officeDocument/2006/relationships/notesSlide" Target="/ppt/notesSlides/notesSlide6.xml" Id="R7c03e39a23e044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bc0a98746246ba" /><Relationship Type="http://schemas.openxmlformats.org/officeDocument/2006/relationships/image" Target="/ppt/media/image4.png" Id="Rb00d2fe446d44a76" /><Relationship Type="http://schemas.openxmlformats.org/officeDocument/2006/relationships/notesSlide" Target="/ppt/notesSlides/notesSlide7.xml" Id="R08714d79a395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481db849294819" /><Relationship Type="http://schemas.openxmlformats.org/officeDocument/2006/relationships/notesSlide" Target="/ppt/notesSlides/notesSlide8.xml" Id="R6be549480b8a44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4a4407529a4b9a" /><Relationship Type="http://schemas.openxmlformats.org/officeDocument/2006/relationships/image" Target="/ppt/media/image5.png" Id="Re5f9169349fa4532" /><Relationship Type="http://schemas.openxmlformats.org/officeDocument/2006/relationships/image" Target="/ppt/media/image6.png" Id="R3b96a0399830419e" /><Relationship Type="http://schemas.openxmlformats.org/officeDocument/2006/relationships/notesSlide" Target="/ppt/notesSlides/notesSlide9.xml" Id="Ree29e4ddf0554a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59b8663bf4059" /><Relationship Type="http://schemas.openxmlformats.org/officeDocument/2006/relationships/notesSlide" Target="/ppt/notesSlides/notesSlide10.xml" Id="R6f36ca337f8545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F7F8A-C69F-47C0-A5F0-4A3E1EA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6F7A3-F736-4B7D-92CE-759B57E7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2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AD160-FA11-411F-B454-6466ABC5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D8D2"/>
                </a:solidFill>
                <a:latin typeface="Aptos"/>
                <a:ea typeface="Aptos"/>
                <a:cs typeface="Aptos"/>
              </a:rPr>
              <a:t>PROJETO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1CE80-EC24-4C3A-9FD2-4AD2C083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29146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Coffee Shop Sales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EAA67-42E1-4878-AB16-25ED3EDC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2724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E7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FE7EF"/>
                </a:solidFill>
                <a:latin typeface="Aptos"/>
                <a:ea typeface="Aptos"/>
                <a:cs typeface="Aptos"/>
              </a:rPr>
              <a:t>Data Warehouse + Machine Learning aplicado a vendas de cafeteria.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96775-C910-43D4-97B7-2003CA61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00100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Da modelagem dimensional ao insight de negócio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46506-BFA0-458F-B805-36E9714E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661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Dataset público Maven Analytics / Kaggle com transações de três lojas entre janeiro e junho de 2023.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4304A-17F5-4A08-B46B-66EA383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1638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08857-0507-496C-84BA-3DC1320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149.116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9C5E7-87A9-459E-BE6A-783E5EB1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registros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6E0BC-1086-44D4-A2BC-7F108F92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1638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B548B-C578-4127-AAF3-E6CA0A64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rPr>
              <a:t>$698,8k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2D74A-4F80-4BCF-B1D5-60D0FEAF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receita 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83C93-C168-4001-9381-9BC16261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1638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3BDB3-6D82-4B57-9EA6-27E02267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902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9028"/>
                </a:solidFill>
                <a:latin typeface="Aptos Display"/>
                <a:ea typeface="Aptos Display"/>
                <a:cs typeface="Aptos Display"/>
              </a:rPr>
              <a:t>214.470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7AC40-8C69-4879-A36B-803EBC2F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itens vendidos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043B1-4A29-4A5C-BF9E-D5C99BF9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24150"/>
            <a:ext cx="1638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0A0D6-4A9A-405C-A73D-258A438D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765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5A4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75A4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6B531-EEBB-4B61-ABFF-2AF035BA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lojas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62EFE-0A5F-4E69-972C-E34AFFFE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718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B9D7C-671F-4294-9E03-7EBDA5E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95800"/>
            <a:ext cx="321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Loja lider: Hell's Kitchen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225B0-F3AF-4920-89A4-7E468E1B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Pico de demanda: 10h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9574F-EEE7-4495-89A5-AA4D6769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5305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Pergunta central: quais fatores explicam maior receita e maior demanda por loja, produto, mês, dia da semana e horário?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8C5A3-7834-4791-86E3-BC8FF91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E18A8-0FD7-4195-B256-2E7944DC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50111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5161F3-F423-49AF-A767-BA8B9905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E1F02-414D-4A2D-A075-78E5A594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B2939-B346-4A26-A30C-80B58CB3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A base atende aos requisitos e oferece boa leitura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627A2-2A94-4E59-A111-2A64F326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678C2-61C6-4A0D-90C0-9955B1E5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D85F8-D353-4882-A667-5F12F0AF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149.116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17972-9CD3-43DD-ADD5-FE77F902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mínimo exigido: 10.000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FA72B-64E0-4164-93AD-F25B6BEC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38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D23A1-D850-4D69-8486-D5C6C9BB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7DA55-A744-4ED5-8F55-BECCF92F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526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colunas originais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6CF4A-1DCA-4DE3-86A3-0AAA925B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38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D5234-BC01-4169-AFE2-9AA99FCE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902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9028"/>
                </a:solidFill>
                <a:latin typeface="Aptos Display"/>
                <a:ea typeface="Aptos Display"/>
                <a:cs typeface="Aptos Display"/>
              </a:rPr>
              <a:t>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FF77B-50C7-4D81-97A9-DDF90DCC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526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produtos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B0D2C-2EA4-4118-9E04-2F450FD1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38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EDEA5-45EB-47FF-84DA-7C6135CB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5A4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75A4A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F61A8-6232-4347-BB1E-FDD55AE0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526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categorias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1EA80-1846-403C-A2AD-8F862FB3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38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C3C03-BC2B-4F83-8ADD-E5BEBB53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D32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E7D32"/>
                </a:solidFill>
                <a:latin typeface="Aptos Display"/>
                <a:ea typeface="Aptos Display"/>
                <a:cs typeface="Aptos Display"/>
              </a:rPr>
              <a:t>181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72253-0E7B-4251-B90B-A37CF0C5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526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dias de operação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2AA2F-4F24-4C59-BD89-A6F0289C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295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C92A2-0253-4027-ADC6-4A2D7653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55D4D-41DF-4DBF-B844-95BF48FC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Variáveis numéricas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2D2FC-011D-47C1-96FC-07B7EBE5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97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transaction_qty, unit_price, store_id, product_id e transaction_id permitem medidas, chaves e validações.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7FC63-D950-4FF7-BA92-4D6EB2E6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3295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D321B-8170-4047-9BFF-C8E917C5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3FA8A-DE26-47D0-A551-69CB97F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Variáveis categóricas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7C9837-84EE-403F-8E7D-B09C9E95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9000"/>
            <a:ext cx="297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store_location, product_category, product_type e product_detail sustentam dimensões e comparações.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6AEA3-24ED-4C3A-AA9B-22A9859F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3295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5AC1B-65BF-4508-A649-253B3E29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CFA73-BAF9-4808-826E-146C345E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Variáveis temporais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8522D0-DD72-4F2B-8D47-C2A65C6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7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transaction_date e transaction_time permitem evolução mensal, dia da semana e análise por hora.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CE520C-CB78-405A-BAC7-D41ED538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Fonte: Maven Analytics Data Playground / Kaggle. A Maven Roasters é fictícia, mas o dataset é público e adequado para prática analítica.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121F63-5653-4B8D-92BC-60DE7226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3F051-FA4F-432F-95DF-0B52969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06237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F45758-0204-4D8B-8AD4-10B4C228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C9388-C2D6-4DAB-BFE7-70CCAD6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MODELAGEM DIMENSIONAL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140FE-3D0E-4E81-9FC2-293454B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Star schema simples, explicável e aderente ao enunciado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D5C55-E635-41EB-AD54-1605DA76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E0645-D68F-4480-A843-3D85D7F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2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1EA66-AFF1-46BC-A581-C9704769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E2213-E1B3-41F5-A880-69FA1E17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3365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fato_vendas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67515-09C4-4671-97C7-07E52573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venda_key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50674-3F5A-408A-993C-11CDA341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194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transacao_id (degenerada)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DFE39-6C88-4D21-9F37-C5E9C20A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tempo_key, loja_key, produto_key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ABD0D-3E3C-4450-864D-03BA556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quantidade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3EA62-88DA-42B1-9993-DBAB1E48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195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preco_unitario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518E8-E8A1-40C6-A85C-48EF1451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862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receita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D7342-24C0-4D91-B97A-A6BA6F2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619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C8F72-9402-482C-826E-670E50E0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61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6A0AC-4F71-44A0-B8FF-DF2F451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352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dim_tempo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A5E49-FF6A-4D6A-8693-C66CBE32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data e hora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4A1E9-EAFC-44B2-A49A-9DB4CDEC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ano, mes, trimestre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2623A-1351-41DF-A823-754C897F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dia da semana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57DBA-8A01-4CF7-8FAD-C60D50F3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periodo do dia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2E7C8-022D-453F-9889-B92469F5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619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3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D1DE4-1323-476F-A575-7198A660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61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FB86A-1D11-4351-840C-6F8300A3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2352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dim_loja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42495-0593-4EC1-9479-FDFD651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localizacao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C55A62-2EA5-4BA4-82A1-6118F506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cidade e pais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E9A74-144E-47D3-BAB7-0C97EA05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F1768-5419-4701-AF73-65C35C22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tipo_loja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A823A-19CE-4E73-9F9A-9DF7BC2C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6193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90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8E37C7-CDEC-44A2-A8EF-95AC1F4A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61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5C0CE-5D56-4380-8E77-627FD5D4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352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dim_produto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62D325-074F-484C-BA79-224CEC2E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categoria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805C39-4B05-422D-9870-70B0B1DC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tipo_produto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9BF1C8-7AF3-4187-8E35-3E9FD50B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detalhe_produto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B9172-8CC6-4B10-AB31-7EF29860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faixa_preco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F8D0DB-9F26-4B1A-A8CA-61263AB5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26193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5A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7302D-D0F1-499F-84E0-E828F58B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261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CEE247-24D1-4CBB-BF43-D7F7EDD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33900"/>
            <a:ext cx="2352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080140-8AE1-489A-8F51-56CADCC6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530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receita mensal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C6B020-7AAB-416A-956E-D93311E1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197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demanda horaria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423381-4851-4C8D-9E32-E1AB5293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86400"/>
            <a:ext cx="2314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ranking produtos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E652A4-0E5C-423B-8FBA-010CAE41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552700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F9510D-8CF4-4FAF-8101-3794F554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9EF67C-D951-403F-9820-B3B86F67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219700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D1581C-61C7-4473-86D3-300018C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ADC6A7-6E0B-4BBE-ABF8-0244EB5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72050"/>
            <a:ext cx="3600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Grão da fato: uma linha por item vendido em uma transação.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57BC3A-1686-48BF-A31E-828E1B18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C72B5F-EF24-4EBA-88E6-AF8FCB03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32589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35093D-619E-456E-8297-CDA80890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7412C-DC56-4C65-84AA-323AE88E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D6BD4-6614-4BD2-B6AC-EE71C838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Scripts organizados para criar banco, carregar DW e validar resultados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0E1D3-2575-4A51-9057-A827AD7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AC6A1-315A-4D71-BB1D-FA1A2BA9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A4664-D6D6-41E8-8A6B-0C48AF28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599C0-8EDF-4929-B1AA-985BD7FE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create_database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2B7AE-C977-4A89-B4D8-0AE4339F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Cria coffee_shop_dw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97234-BC25-4F3C-9498-6C4ED6DF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F6A70-5A08-416D-95DF-881764EE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4F6EA-355C-4A98-8818-0760BDDF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145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562E7-1E5C-41CE-BDCC-8D1DE643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schema_dw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3E81D-BEF9-446C-B404-9D27FD0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Cria dimensões, fato, chaves e índices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76C71-28CD-4CAD-81D3-D5F94A6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838AE-16F9-4418-AC14-EA2DD6FD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097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6CBC4-4CD6-4ACB-9CF9-ECAF348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145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6D116-1824-48CF-91ED-4A5D4215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load_dw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266FD-E987-4879-BC7F-C49060B5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3855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Carrega CSVs processados via psql \copy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D9B23-56C1-4E85-9DA3-D8045CD0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04298-C1A6-4AD3-9B32-B6CC4782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E8A01-B708-4C30-8A5F-8F7272D4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F11C4-6F22-4A93-A75B-4E8D38BA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views_analiticas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C0E02-56A5-4732-BEAC-567760DE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Cria views de análise obrigatórias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A92C87-3AD0-4FB7-A63A-6BE630F4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FF26B-D98B-4A5E-9135-792665F5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32E3A2-AEBD-45D5-95B2-F50E4CA2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145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9ED77-9AB5-4D6F-99B8-87A29EB5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717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quality_checks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EB0F6-68A8-4ACC-BC39-DE23DA25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3855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Confere linhas, receita e amostras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D295E-592C-4B71-B6EB-697624E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58E30-7E9A-472B-A23B-96E5402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AC88F-8824-42FC-B76D-0B0DEAE3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Views obrigatórias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FC57CE-50EC-415D-A76C-626FDE4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443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Receita mensal por loja e categoria; demanda por dia, hora, loja e produto.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29F6A8-67FE-42D9-A299-508E6E13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E47CF3-6B72-4737-AB5E-D4FD9AA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214468-2266-4B62-AF61-CC68DFF5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Validações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ED8638-C2A5-4A47-92E5-03E961F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43500"/>
            <a:ext cx="443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fato mantém 149.116 linhas e a fórmula receita = quantidade * preço unitário é conferida.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E8B9AC-C316-40E5-9078-66DA3FCD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9D6599-C30B-4A4F-9C76-8F3ED2D8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27580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063BF-496B-4958-B366-85916AD6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09588-5E8B-46A9-98B4-15B4CBED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EDA TEMPORAL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26013-D88C-4B09-8BCA-7C098ED3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A receita acelera no segundo trimestre, com junho como melhor mês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033E8-9DDA-4B9F-80FE-9920ABA0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c33b9055041b3"/>
          <a:stretch xmlns:a="http://schemas.openxmlformats.org/drawingml/2006/main"/>
        </p:blipFill>
        <p:spPr>
          <a:xfrm xmlns:a="http://schemas.openxmlformats.org/drawingml/2006/main">
            <a:off x="742950" y="1844132"/>
            <a:ext cx="6858000" cy="3607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4D68A-A49E-421F-9D85-4FFE262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8D249-95F1-42DA-B8AB-498A9994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15CAF-1F1D-44F6-9406-E5DEF076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669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Junho lidera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79D0A-F76A-4C5D-9864-D502B3D7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receita total chega a $166,485.88, acima de todos os meses anteriores.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D4571-A532-42A1-8075-7E30E187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BAE05-20A7-4C29-829E-EA7E132E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36447-A55E-45C4-929C-35644F95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Sazonalidade visível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63830-02FA-48EB-AACD-9E02A1B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 crescimento entre abril, maio e junho sugere aumento de tráfego ou maturação operacional.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C4912-36C9-4485-B43F-342F82E7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ECB33-CBF6-4C83-AD0A-91D9155D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0833D-FBB5-423B-81B2-7E1263AE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Decisão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0A7D1-6017-4051-8177-9F2530EF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6250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Planejar estoque e escala usando mês, dia da semana e hora como chaves de previsão.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37A6D-2EBF-42F1-8C39-A43909B0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7294C-87E5-4A39-B56A-7ADF9397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5870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EAE48-FCDD-4B3E-9F59-8AB517C2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1A30E-D929-4EFF-81EB-CCAE4303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LOJAS E CATEGORIAS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8E6AE-4F2C-4F86-BDCE-7F81AD0C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Receita se concentra em Hell's Kitchen e na categoria Coffee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CD789-DA0C-4A48-871C-0DAF8DFE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162b4003a44ff"/>
          <a:stretch xmlns:a="http://schemas.openxmlformats.org/drawingml/2006/main"/>
        </p:blipFill>
        <p:spPr>
          <a:xfrm xmlns:a="http://schemas.openxmlformats.org/drawingml/2006/main">
            <a:off x="590550" y="2027665"/>
            <a:ext cx="4953000" cy="2936021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6ef88d0794692"/>
          <a:stretch xmlns:a="http://schemas.openxmlformats.org/drawingml/2006/main"/>
        </p:blipFill>
        <p:spPr>
          <a:xfrm xmlns:a="http://schemas.openxmlformats.org/drawingml/2006/main">
            <a:off x="6096000" y="2137645"/>
            <a:ext cx="4953000" cy="27160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9730F-93A6-4CD0-9E48-6B603048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F191E-31B5-4869-AEDD-B8FABF0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F0DFB-8379-4904-B2CF-520564B6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Loja líder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DA848-D015-4D42-BB96-35DB60A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Hell's Kitchen soma $236,511.17 em receita.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7671B-FE76-49ED-8B10-DA2DEDCF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F24DC-113E-4E87-90DB-2483849F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18676-FE4C-4733-B1F5-2D6F7871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38800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Categoria líder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6D2BF-70BA-4035-9821-91662789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05500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soma $269,952.45 e sustenta o mix.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0FEE3-D09E-4AFB-99BB-B6C31240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B38E2-0E51-4B3A-9E49-DB231240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78996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71EFC7-7AD5-4F9A-A62D-525B7F8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D2761-77A4-4308-8CCC-2184138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DEMANDA HORÁRIA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C2CF4-4953-4941-95DF-F0092ECE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O pico de operação acontece pela manhã, principalmente às 10h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09EA2-EEEF-4148-9C85-318D1920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d2fe446d44a76"/>
          <a:stretch xmlns:a="http://schemas.openxmlformats.org/drawingml/2006/main"/>
        </p:blipFill>
        <p:spPr>
          <a:xfrm xmlns:a="http://schemas.openxmlformats.org/drawingml/2006/main">
            <a:off x="666750" y="1882922"/>
            <a:ext cx="7239000" cy="35684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58A10-1D6F-429A-A512-16F4E93E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2705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219DA-C28D-43F8-B032-C2553E6C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8694D-E40C-4600-81A5-9FBDD19D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Pico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2DD77-8E33-4D1E-85CD-F04E2C88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26.713 itens vendidos às 10h.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0370B-1737-4FFB-AF23-1F364889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2705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CCB91-035C-42D3-BB85-FD10D05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DF2F4-F32A-439B-9914-56FE804D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Operação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7DB3A-BF0C-42F7-9D29-F7AA9699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escala de equipe deve priorizar abertura e meio da manhã.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9CFC2-6686-4CA3-AA6C-302A47C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2705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D4670-8345-4BB7-B0D8-2BD18350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0DCBB-16E0-45F3-BBA9-5A534DE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91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Estoque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EF507-80F2-405E-9257-1A6DD5B3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Produtos de alto giro precisam estar prontos antes do pico.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C5659-7D37-4AE0-B0A8-6974FB7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DB7A8-9319-4CD3-99B0-BDDBFEA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22588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97D3F0-A9FA-4312-AB4C-1B79A524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2F7D3-7F64-4EA2-BCAC-21D77295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95254-402C-4002-B5D1-4251105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A formulação mais defensável é prever demanda, não adivinhar produto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3876A-8409-4386-98AE-357CEBE6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C6465-43DF-4834-ABF5-A977E1E7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A5B22-20B8-40C7-81E1-9A8EB33A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68.469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F4CB1-80AE-47FF-A91D-EFAEB993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linhas agregadas para 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FFC4-477A-49FE-958B-8155025B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145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430D7-5FF8-4146-BD30-F37C6B5D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669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rPr>
              <a:t>Q75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1F0CF-6B20-44C1-81AF-51F1BD54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288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limiar de alta demanda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6B30C-5BD1-4BFA-B144-E5311184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CF18-7984-417A-9C75-1472686A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669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902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9028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1F972-14AB-4275-B42E-13BF0BF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variáveis preditoras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6D881-D931-463E-B7F9-22C9CBB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F0A14-2B35-4831-932B-B16A03B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669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5A4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75A4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B61E6-D9D4-4F61-94D3-3FFE3966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288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modelos avaliados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CDD72-0DDF-4F89-9653-5B6C2F57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B93E2-3A19-44F6-B671-F9AEB350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20141-103E-4667-A9F5-9E617A92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Classificação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34E1E-86BB-4037-8118-794A31DB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Target: alta_demanda. A classe positiva representa combinações loja-produto-hora acima do quartil 75 de quantidade vendida.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F7288-7666-446C-B9CE-89E9D7EC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5E441-9CA8-4E97-8C52-9ACE899A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F3376-330A-4454-A4C0-143E71DA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Regressão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6AFA7-78EA-4AF0-85DC-8E18E262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Target: quantidade_vendida. A Regressão Linear testa se relações simples explicam a demanda agregada.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92C18-8557-475E-B26B-3676D7CB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E317AD-5F84-4273-8758-0D5109EA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61FF5-CE0E-4959-B9C9-87B55DC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B0223-17D4-44FE-A0DA-20592EA8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Hora, mês, dia, fim de semana, preço médio, loja, categoria e tipo de produto.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CD7F8-84ED-4201-8ABF-0274D08B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962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Modelos: KNN, Árvore de Decisão, Random Forest, Logistic Regression e Regressão Linear.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3067E3-D357-40B9-88C8-18A54D82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1F8837-1661-4B7E-A30F-42D65584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638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93658-9490-4101-8E5A-20A90785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6C736-2B4A-4A29-A42E-4EF0EAA4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COMPARAÇÃO DE MODELOS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03864-103E-4FD0-86BC-CB17BB30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Árvore de Decisão vence por F1-score no recorte testado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F7F89-7C51-441E-B86E-3B7AD71E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9169349fa4532"/>
          <a:stretch xmlns:a="http://schemas.openxmlformats.org/drawingml/2006/main"/>
        </p:blipFill>
        <p:spPr>
          <a:xfrm xmlns:a="http://schemas.openxmlformats.org/drawingml/2006/main">
            <a:off x="552450" y="1799065"/>
            <a:ext cx="4953000" cy="2936021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6a0399830419e"/>
          <a:stretch xmlns:a="http://schemas.openxmlformats.org/drawingml/2006/main"/>
        </p:blipFill>
        <p:spPr>
          <a:xfrm xmlns:a="http://schemas.openxmlformats.org/drawingml/2006/main">
            <a:off x="5981700" y="1667025"/>
            <a:ext cx="4381500" cy="320010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BCB00-DD83-41F3-9CD2-F06F0541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B99EA-1A18-4893-B7CA-E730CFCD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5BD7D-B8D2-4898-8389-D2FB1590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Melhor 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938AD-DDE9-468B-8F7C-12B4584C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Árvore de Decisão: accuracy 0.8233, precision 0.7284, recall 0.7007, F1 0.7143.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5B595-3475-40FD-83CB-75331D1B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C2DBD-C2DD-4D62-A54B-270B7012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CA997-4D37-48C4-81B9-B0C8F678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Por quê?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FC391-AFFC-4C75-A86A-FE1B5542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578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Regras não lineares de horário, loja e produto explicam melhor a demanda do que uma fronteira linear.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ACE03-6E21-423E-B5BB-98CCD3F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578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8EAED-52DE-420F-AA95-CABDCEC6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578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0695E-700E-4FA6-AE30-8E491FEA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911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Limite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8F5AF-5FD7-4B63-9B2A-76D29783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578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Regressão Linear teve R² 0.2464; faltam clima, feriados, campanhas e clientes.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8C7D6-AA3E-4686-975A-0B3F5152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18000-91DD-4573-BC14-FB4EA8DA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39878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98EAA4-89B0-4F26-B3B7-7479CDB0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F4849-8740-4844-8AE7-97669AD5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INSIGHTS E DECISÕES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D03FD-CB23-4F70-AD8E-A14BC1BB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A análise vira ação quando orienta estoque, equipe e mix de produtos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CC4F5-A25F-451C-AE15-7E870D03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31566-2EB9-4587-8686-5B4BDE30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0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F9A59-B92A-4352-BF79-9704C8A7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Priorizar estoque e escala em Hell's Kitchen, a loja de maior receita.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0FF8F-1A66-4F2D-9C22-D0633A1F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33728-ABED-4F36-A5C5-147DAB19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Preparar operação para o pico das 10h, com 26.713 itens vendidos no período.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9D6C3-3D57-410E-9DD2-019363B6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005D3-BF54-4D1E-84B1-702270CB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Manter Coffee como categoria âncora e proteger disponibilidade dos itens principais.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6EC60-F751-4741-B006-812907D3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AAD76-A164-485D-B660-A41C3A3A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Usar Barista Espresso como produto de receita e Brewed Chai tea como produto de tráfego.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2DD53-164E-4D9C-AEC5-A2527EB3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11E4B-4FD6-4D23-8EE8-FE06A845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Criar combos e promoções para horários de menor movimento e produtos de menor giro.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B7A36-0D83-410D-9440-2A5E68A7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3486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1F11-55B9-4882-920B-0765E495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6EA94-9B19-4B34-AFAB-D9741125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Próximo passo analítico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DB1F9-4229-4DA9-9DDE-5768CFD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90750"/>
            <a:ext cx="3162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Adicionar clima, feriados, promoções e dados de cliente para melhorar a previsão de demanda.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70B7C-9C68-43C6-90F1-FB4B856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3486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4E0F6-4D0C-4BA4-A52D-E61D7C7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2D95D-DD26-43C7-B4DA-C5E63303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Mensagem final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24AC7-C1D8-405F-AC01-54F0D02E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90950"/>
            <a:ext cx="3162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 DW organiza o dado; a EDA explica padrões; o ML transforma padrões em previsão operacional.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2791C-6A98-4D1D-9C82-0E457016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62550"/>
            <a:ext cx="3486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43E6D0-3800-4798-87F7-E6F66CFE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348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Entrega: SQL + Notebook + Slides + Relatório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882A5-A9B6-4E52-941A-5CF4F16B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Coffee Shop Sales | Data Warehouse + Machine Learning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8FE979-45E9-49B1-990D-A607754D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0681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2026-05-17T18:04:01.8350000Z</dcterms:created>
  <dcterms:modified xsi:type="dcterms:W3CDTF">2026-05-17T18:04:01.8350000Z</dcterms:modified>
</coreProperties>
</file>