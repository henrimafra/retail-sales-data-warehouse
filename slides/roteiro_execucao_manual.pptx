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97167644d54bbb" /><Relationship Type="http://schemas.openxmlformats.org/officeDocument/2006/relationships/extended-properties" Target="/docProps/app.xml" Id="R4af6970496664e65" /><Relationship Type="http://schemas.openxmlformats.org/officeDocument/2006/relationships/officeDocument" Target="/ppt/presentation.xml" Id="Rd481412696834b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6071f2d9c74504"/>
  </p:sldMasterIdLst>
  <p:notesMasterIdLst>
    <p:notesMasterId xmlns:r="http://schemas.openxmlformats.org/officeDocument/2006/relationships" r:id="R1e4430cf0b054313"/>
  </p:notesMasterIdLst>
  <p:sldIdLst>
    <p:sldId xmlns:r="http://schemas.openxmlformats.org/officeDocument/2006/relationships" id="256" r:id="Re26ca71dff8d4fd6"/>
    <p:sldId xmlns:r="http://schemas.openxmlformats.org/officeDocument/2006/relationships" id="257" r:id="R9433b04a7b33482e"/>
    <p:sldId xmlns:r="http://schemas.openxmlformats.org/officeDocument/2006/relationships" id="258" r:id="R26eff995cfbb4490"/>
    <p:sldId xmlns:r="http://schemas.openxmlformats.org/officeDocument/2006/relationships" id="259" r:id="R57b85444afb949cc"/>
    <p:sldId xmlns:r="http://schemas.openxmlformats.org/officeDocument/2006/relationships" id="260" r:id="R9688f3d384414ebe"/>
    <p:sldId xmlns:r="http://schemas.openxmlformats.org/officeDocument/2006/relationships" id="261" r:id="Re12ea4e96c42478f"/>
    <p:sldId xmlns:r="http://schemas.openxmlformats.org/officeDocument/2006/relationships" id="262" r:id="R291d7fafa7714026"/>
    <p:sldId xmlns:r="http://schemas.openxmlformats.org/officeDocument/2006/relationships" id="263" r:id="Rd7bcde9816c74eab"/>
    <p:sldId xmlns:r="http://schemas.openxmlformats.org/officeDocument/2006/relationships" id="264" r:id="R6c73dd6a5cd241e2"/>
    <p:sldId xmlns:r="http://schemas.openxmlformats.org/officeDocument/2006/relationships" id="265" r:id="R89ac9620e9d944db"/>
    <p:sldId xmlns:r="http://schemas.openxmlformats.org/officeDocument/2006/relationships" id="266" r:id="R13ef93d9ef384a07"/>
    <p:sldId xmlns:r="http://schemas.openxmlformats.org/officeDocument/2006/relationships" id="267" r:id="Rfbe516884e7e439c"/>
    <p:sldId xmlns:r="http://schemas.openxmlformats.org/officeDocument/2006/relationships" id="268" r:id="Rb7a98954e87d4045"/>
    <p:sldId xmlns:r="http://schemas.openxmlformats.org/officeDocument/2006/relationships" id="269" r:id="R0f296e3e165a45e2"/>
    <p:sldId xmlns:r="http://schemas.openxmlformats.org/officeDocument/2006/relationships" id="270" r:id="Raf7ad0eccd8540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071f2d9c74504" /><Relationship Type="http://schemas.openxmlformats.org/officeDocument/2006/relationships/theme" Target="/ppt/theme/theme1.xml" Id="Ra8a05e81147f417d" /><Relationship Type="http://schemas.openxmlformats.org/officeDocument/2006/relationships/notesMaster" Target="/ppt/notesMasters/notesMaster1.xml" Id="R1e4430cf0b054313" /><Relationship Type="http://schemas.openxmlformats.org/officeDocument/2006/relationships/presProps" Target="/ppt/presProps.xml" Id="Rd8ccc802900745fc" /><Relationship Type="http://schemas.openxmlformats.org/officeDocument/2006/relationships/viewProps" Target="/ppt/viewProps.xml" Id="R5f9dd41ec9714bbd" /><Relationship Type="http://schemas.openxmlformats.org/officeDocument/2006/relationships/tableStyles" Target="/ppt/tableStyles.xml" Id="R3c6dacc1a16d41f7" /><Relationship Type="http://schemas.openxmlformats.org/officeDocument/2006/relationships/slide" Target="/ppt/slides/slide1.xml" Id="Re26ca71dff8d4fd6" /><Relationship Type="http://schemas.openxmlformats.org/officeDocument/2006/relationships/slide" Target="/ppt/slides/slide2.xml" Id="R9433b04a7b33482e" /><Relationship Type="http://schemas.openxmlformats.org/officeDocument/2006/relationships/slide" Target="/ppt/slides/slide3.xml" Id="R26eff995cfbb4490" /><Relationship Type="http://schemas.openxmlformats.org/officeDocument/2006/relationships/slide" Target="/ppt/slides/slide4.xml" Id="R57b85444afb949cc" /><Relationship Type="http://schemas.openxmlformats.org/officeDocument/2006/relationships/slide" Target="/ppt/slides/slide5.xml" Id="R9688f3d384414ebe" /><Relationship Type="http://schemas.openxmlformats.org/officeDocument/2006/relationships/slide" Target="/ppt/slides/slide6.xml" Id="Re12ea4e96c42478f" /><Relationship Type="http://schemas.openxmlformats.org/officeDocument/2006/relationships/slide" Target="/ppt/slides/slide7.xml" Id="R291d7fafa7714026" /><Relationship Type="http://schemas.openxmlformats.org/officeDocument/2006/relationships/slide" Target="/ppt/slides/slide8.xml" Id="Rd7bcde9816c74eab" /><Relationship Type="http://schemas.openxmlformats.org/officeDocument/2006/relationships/slide" Target="/ppt/slides/slide9.xml" Id="R6c73dd6a5cd241e2" /><Relationship Type="http://schemas.openxmlformats.org/officeDocument/2006/relationships/slide" Target="/ppt/slides/slide10.xml" Id="R89ac9620e9d944db" /><Relationship Type="http://schemas.openxmlformats.org/officeDocument/2006/relationships/slide" Target="/ppt/slides/slide11.xml" Id="R13ef93d9ef384a07" /><Relationship Type="http://schemas.openxmlformats.org/officeDocument/2006/relationships/slide" Target="/ppt/slides/slide12.xml" Id="Rfbe516884e7e439c" /><Relationship Type="http://schemas.openxmlformats.org/officeDocument/2006/relationships/slide" Target="/ppt/slides/slide13.xml" Id="Rb7a98954e87d4045" /><Relationship Type="http://schemas.openxmlformats.org/officeDocument/2006/relationships/slide" Target="/ppt/slides/slide14.xml" Id="R0f296e3e165a45e2" /><Relationship Type="http://schemas.openxmlformats.org/officeDocument/2006/relationships/slide" Target="/ppt/slides/slide15.xml" Id="Raf7ad0eccd8540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694ce5a5d8648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3d1bec57f04ec2" /><Relationship Type="http://schemas.openxmlformats.org/officeDocument/2006/relationships/notesMaster" Target="/ppt/notesMasters/notesMaster1.xml" Id="R01ef6899636144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babc53f4e94af5" /><Relationship Type="http://schemas.openxmlformats.org/officeDocument/2006/relationships/notesMaster" Target="/ppt/notesMasters/notesMaster1.xml" Id="R6d3c53fe968a48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bbf767ce984ca5" /><Relationship Type="http://schemas.openxmlformats.org/officeDocument/2006/relationships/notesMaster" Target="/ppt/notesMasters/notesMaster1.xml" Id="Rcd302fc9e90a42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78940bf719488f" /><Relationship Type="http://schemas.openxmlformats.org/officeDocument/2006/relationships/notesMaster" Target="/ppt/notesMasters/notesMaster1.xml" Id="R58811ebbffaf43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5ae78b6b924193" /><Relationship Type="http://schemas.openxmlformats.org/officeDocument/2006/relationships/notesMaster" Target="/ppt/notesMasters/notesMaster1.xml" Id="Rfbedef48149c4b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388767f0d04929" /><Relationship Type="http://schemas.openxmlformats.org/officeDocument/2006/relationships/notesMaster" Target="/ppt/notesMasters/notesMaster1.xml" Id="R85384cfe5bde41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7df8ce75e74d1b" /><Relationship Type="http://schemas.openxmlformats.org/officeDocument/2006/relationships/notesMaster" Target="/ppt/notesMasters/notesMaster1.xml" Id="R80ba27b40b714f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997a00d6254642" /><Relationship Type="http://schemas.openxmlformats.org/officeDocument/2006/relationships/notesMaster" Target="/ppt/notesMasters/notesMaster1.xml" Id="R0fa00e8058b242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5f8a12ffc541a5" /><Relationship Type="http://schemas.openxmlformats.org/officeDocument/2006/relationships/notesMaster" Target="/ppt/notesMasters/notesMaster1.xml" Id="R71cdc3f4bc4a4b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ec0ff7f91840e7" /><Relationship Type="http://schemas.openxmlformats.org/officeDocument/2006/relationships/notesMaster" Target="/ppt/notesMasters/notesMaster1.xml" Id="Re1399da648744b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258c6c01c445b2" /><Relationship Type="http://schemas.openxmlformats.org/officeDocument/2006/relationships/notesMaster" Target="/ppt/notesMasters/notesMaster1.xml" Id="Rc7d0531ad3fb4d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93cbe826774672" /><Relationship Type="http://schemas.openxmlformats.org/officeDocument/2006/relationships/notesMaster" Target="/ppt/notesMasters/notesMaster1.xml" Id="R59aec115af594c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847bf6a54d4d16" /><Relationship Type="http://schemas.openxmlformats.org/officeDocument/2006/relationships/notesMaster" Target="/ppt/notesMasters/notesMaster1.xml" Id="R388d3e36aeaa4f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82ebcbb3ba4483" /><Relationship Type="http://schemas.openxmlformats.org/officeDocument/2006/relationships/notesMaster" Target="/ppt/notesMasters/notesMaster1.xml" Id="Rcbb04ec4df954e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a73efb9b2942bf" /><Relationship Type="http://schemas.openxmlformats.org/officeDocument/2006/relationships/notesMaster" Target="/ppt/notesMasters/notesMaster1.xml" Id="R34dade2c5ca642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9f2ecdf7c9452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35bca2eae0446fe" /><Relationship Type="http://schemas.openxmlformats.org/officeDocument/2006/relationships/slideLayout" Target="/ppt/slideLayouts/slideLayout2.xml" Id="R6072cfa536524f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72cfa536524f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4a39507b434f10" /><Relationship Type="http://schemas.openxmlformats.org/officeDocument/2006/relationships/notesSlide" Target="/ppt/notesSlides/notesSlide1.xml" Id="R039f4a6f1a594e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36f1a9816948cb" /><Relationship Type="http://schemas.openxmlformats.org/officeDocument/2006/relationships/notesSlide" Target="/ppt/notesSlides/notesSlide2.xml" Id="Rca1e0c92108344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debaab663c4f0c" /><Relationship Type="http://schemas.openxmlformats.org/officeDocument/2006/relationships/notesSlide" Target="/ppt/notesSlides/notesSlide3.xml" Id="R45fe0f25f1cd46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e1e0425d964729" /><Relationship Type="http://schemas.openxmlformats.org/officeDocument/2006/relationships/notesSlide" Target="/ppt/notesSlides/notesSlide4.xml" Id="R947f64c83d294c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a82de4115c4d69" /><Relationship Type="http://schemas.openxmlformats.org/officeDocument/2006/relationships/notesSlide" Target="/ppt/notesSlides/notesSlide5.xml" Id="R975d1885f16a4f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9d97f4d0014def" /><Relationship Type="http://schemas.openxmlformats.org/officeDocument/2006/relationships/notesSlide" Target="/ppt/notesSlides/notesSlide6.xml" Id="R0b87f8f062fc4a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7f80b03cbc453e" /><Relationship Type="http://schemas.openxmlformats.org/officeDocument/2006/relationships/notesSlide" Target="/ppt/notesSlides/notesSlide7.xml" Id="Rc99cf0d2083845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b681204eb14e99" /><Relationship Type="http://schemas.openxmlformats.org/officeDocument/2006/relationships/notesSlide" Target="/ppt/notesSlides/notesSlide8.xml" Id="R6d3cb138695e4c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0d22dcfd6b4e51" /><Relationship Type="http://schemas.openxmlformats.org/officeDocument/2006/relationships/notesSlide" Target="/ppt/notesSlides/notesSlide9.xml" Id="R68db8dd36a0546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02ed0d6023436e" /><Relationship Type="http://schemas.openxmlformats.org/officeDocument/2006/relationships/notesSlide" Target="/ppt/notesSlides/notesSlide10.xml" Id="R8c5e51b5f6b644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53a058dc3b4854" /><Relationship Type="http://schemas.openxmlformats.org/officeDocument/2006/relationships/notesSlide" Target="/ppt/notesSlides/notesSlide11.xml" Id="R5683e7d7b5ed43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768e7807e24881" /><Relationship Type="http://schemas.openxmlformats.org/officeDocument/2006/relationships/notesSlide" Target="/ppt/notesSlides/notesSlide12.xml" Id="R7b03b986df224b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baad2741154751" /><Relationship Type="http://schemas.openxmlformats.org/officeDocument/2006/relationships/notesSlide" Target="/ppt/notesSlides/notesSlide13.xml" Id="Ra58503fa6e9a42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daff3fc1404e0f" /><Relationship Type="http://schemas.openxmlformats.org/officeDocument/2006/relationships/notesSlide" Target="/ppt/notesSlides/notesSlide14.xml" Id="R8f4b041735864f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15bf9c21144ef3" /><Relationship Type="http://schemas.openxmlformats.org/officeDocument/2006/relationships/notesSlide" Target="/ppt/notesSlides/notesSlide15.xml" Id="R24be42548a0a43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A57C76-A618-4FDB-9CCB-A6D04774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DDB59-5D90-4DED-8F71-096446FC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54ED6-1EB2-42CF-9B46-1EB23252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D8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FD8D2"/>
                </a:solidFill>
                <a:latin typeface="Aptos"/>
                <a:ea typeface="Aptos"/>
                <a:cs typeface="Aptos"/>
              </a:rPr>
              <a:t>ROTEIRO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CF217-4DEE-41E7-908B-5F7BD389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Como fazer o projeto do início ao fim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EBB35-6BDD-41D7-83DC-2A8299AA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D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DF4"/>
                </a:solidFill>
                <a:latin typeface="Aptos"/>
                <a:ea typeface="Aptos"/>
                <a:cs typeface="Aptos"/>
              </a:rPr>
              <a:t>Coffee Shop Sales</a:t>
            </a:r>
          </a:p>
          <a:p xmlns:a="http://schemas.openxmlformats.org/drawingml/2006/main">
            <a:pPr algn="l">
              <a:defRPr sz="1350" b="0">
                <a:solidFill>
                  <a:srgbClr val="E7ED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DF4"/>
                </a:solidFill>
                <a:latin typeface="Aptos"/>
                <a:ea typeface="Aptos"/>
                <a:cs typeface="Aptos"/>
              </a:rPr>
              <a:t>Data Warehouse + Machine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3BACC-2C89-4B0C-A27E-5CE27167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28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Um guia de execução para fazer tudo na mão, entendendo cada etapa.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59E99-C275-45AE-9299-8F9F09D5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638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Use estes slides como checklist de trabalho e como base para dividir a fala entre as duas pessoas do grupo.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F784D-2BCE-4A7C-8877-1C6CFE1A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1771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13F65-4796-4AC3-A916-B5E7C2E8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14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rPr>
              <a:t>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3DBAC-847E-4CCA-A873-10BF1BC9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86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etapas no roteiro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3E801-1A3F-4CF3-8B59-9DD964F4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1771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F2B35-C0F4-4E2E-9FA6-61B4DBF0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14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3E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563E9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69248-E94E-46C1-91E6-EB3C83F5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86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dias sugeridos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B4E54-CE0A-44AD-8FAD-3A9E4969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1771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E19B1-D412-4DC3-A9F4-1D3B2B53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14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8C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98C1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690A3-3148-4BB7-83BE-B09EB4FE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86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pessoas no grupo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E8497-EDFE-4322-9B94-681D819E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5848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BC91F-0CC3-4367-A8C4-9F4FC22C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00600"/>
            <a:ext cx="584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Meta: chegar à entrega com SQL, notebook, slides, relatório opcional e domínio da apresentação.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509D90-FB95-4671-94FF-C8AD5D37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Roteiro manual | Coffee Shop Sales DW +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12C33-D13E-4A78-94D1-AF4A8D72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625943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738EF5-4873-4A10-BC54-A90E3C97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1FE22-BD56-4662-ADFF-04CA712D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MAPA GERAL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9942C-7131-4DC6-82FA-05A361F4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23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O projeto avança em sete blocos, do dataset à apresentação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7E91E-E73F-40DE-84FF-92003C86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4623E-4769-4B53-8DE4-5C3643EC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CA242-2DC8-47AD-9AE7-8BA3C5E3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4EA84-12FA-4E32-BDD9-83BDD31D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01 Dataset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19BE9-90F9-404A-9CA7-AE84EFE4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Baixar, abrir e validar requisitos.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FAECD-3C74-4007-8BA4-1D8F394E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621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B95BA-DA80-419C-ABD6-0054F3B1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62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78E9F-58A5-4C3E-BF2B-881C4D4C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95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02 Pergunta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FF64F-A089-4B2F-A828-94C53D2C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Definir a pergunta de negócio.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0E33E-08A3-421A-BE65-99E73010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47396-3AB4-44FE-AF67-9562BF6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4691F-006B-468A-89F2-719B6CED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03 DW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7E3F3-D11D-40FE-A6D8-A33F6AF2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Modelar fato, dimensões e chaves.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1B36F-D1B4-4D2F-8982-8A10E7B7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621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3B499-5A3F-42D1-90B7-78363EAC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62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48FE6-BBD8-4681-AF2A-9FCFDD31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95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04 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3F338-CA2B-4A72-814F-446F8999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Criar banco, views e validações.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5DF918-DB6D-4A64-9179-7730462F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766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0AC73-E34E-4C4E-9F0A-DBB39A67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766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2AA05A-78ED-4CBC-A556-CD02215B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100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05 EDA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C079DC-3A5F-4BBB-B8ED-F32605C2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148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Gerar métricas e gráficos.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AC0156-5BF1-46C9-9C3C-95C6F5F0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766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BA4F6-C63A-445D-AEF1-49C3DBB2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766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F4ABB-8126-45EC-8067-628F55E9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00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06 ML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5E8B26-EE69-4668-967C-C81C9AF5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148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Treinar, avaliar e comparar modelos.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55F8D4-B568-457C-9064-2E6FDA63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766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0FE18C-9024-476D-A9F7-E11F8B65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766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7E900B-EB2C-4DA3-98E1-6BF1494C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100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07 Entrega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03034D-BC10-4E0E-B90F-FCF39A45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148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Insights, slides e ensaio.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E8D9A6-F841-479C-A2E5-0C698829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Regra de ouro: cada etapa precisa gerar uma evidência que vocês consigam mostrar ou explicar.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AF8A58-36C4-4C9A-823B-BED6F8AB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Roteiro manual | Coffee Shop Sales DW + ML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ADB77B-192E-4953-BBE0-F955BC1F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930081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B2B04D-BE5F-4D04-B4A7-38B9E24A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611E4-5940-4F69-B1BB-1CD97025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REQUISITOS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28FC7-180E-4E6A-9118-9BED6542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23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Antes de começar, marquem o que o professor vai cobrar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C7A73-0BD6-4B00-BC29-C486297B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92AD6-2B17-44D0-AB41-29CA97ED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181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1EFAA-253D-4383-BE41-1E5E35E9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76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F8D2A-7042-4D00-BCE3-CE206AE1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285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Dados e DW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BEADF-EE5F-4B5B-B14C-C4FCEBC4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8575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Dataset público com no mínimo 10.000 registros; variáveis numéricas e categóricas; PostgreSQL; star schema; 1 fato; 3 a 5 dimensões; 2 views analíticas.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5C7B9-0499-4255-A77A-C449ED80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90700"/>
            <a:ext cx="3181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007FA-92E5-4136-AA3A-A526947C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90700"/>
            <a:ext cx="476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13BEE-9E42-4B0B-9139-6F4A5252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24050"/>
            <a:ext cx="285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Análise e 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84CA6-4574-4057-ADDE-43A7DC0A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28575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EDA em Python; gráficos de distribuição, categorias e evolução temporal; KNN; Árvore de Decisão; Random Forest; Logistic Regression; Regressão Linear.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2ADC3-14A6-40AC-BEFA-D5BCC8FA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3181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CB213-C85D-4C5A-A73C-8E2E35FC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476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BE698-E705-4EE9-815F-84ED3925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24050"/>
            <a:ext cx="285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Entrega e fala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2E63A-F7B1-4ECA-B78A-6FA66A4A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28575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Comparar modelos; explicar melhor desempenho; apresentar 3 a 5 insights; sugerir decisões de negócio; slides; 10 a 15 minutos; todos participam.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0CA621-09D2-41E2-81B3-A4F02BF3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34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32486-0117-4077-BEDA-D2BCBAC9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578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Tudo que não aparecer claramente pode virar pergunta na apresentação.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FAEF2-6387-4201-BFBC-BC096150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Roteiro manual | Coffee Shop Sales DW +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7EC5B-9E78-483B-9CF1-B4F53111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19806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F7BB11-67DB-4932-8C36-925379E2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06A21-01DC-46E7-84E9-76CDB1F6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B8CDE-19F2-49D0-B0D6-ABB8C0AF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23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Validem a base antes de criar qualquer tabela ou modelo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C5D69-7222-418F-B79D-AC4F78FC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9A50E-CF11-45DF-AB5C-82064CCA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27534-B44A-4B8F-AAAA-EB8D4459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rPr>
              <a:t>149.116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2AA5E-1C0A-4E92-A086-86A0A762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registros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1BBDF-1134-4413-AFA1-7F5C52FF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37F04-2157-4625-A49B-E4D130C9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52625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3E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563E9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C60FE-900F-48C1-A648-4DC791F6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241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colunas originais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B28CC-8F4E-4CB5-8AB0-2DDC3EF0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09750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C625C-CB72-4F45-9D2F-243E6D1E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5A4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75A4A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E0EBA-3D17-4E4E-A1A3-7FBA931D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lojas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94C0F-7AD8-4E00-B1C3-094317EB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59792-893A-49CF-ACCF-8A3CB6FD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52625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8C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98C1F"/>
                </a:solidFill>
                <a:latin typeface="Aptos Display"/>
                <a:ea typeface="Aptos Display"/>
                <a:cs typeface="Aptos Display"/>
              </a:rPr>
              <a:t>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9D28D-53A8-41F4-85DC-29BB979E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241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produtos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09983-F6ED-4838-B539-4FF442E4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09750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E2A3E-2E84-48A4-AE25-2FE4B4BC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52625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7D32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E7D32"/>
                </a:solidFill>
                <a:latin typeface="Aptos Display"/>
                <a:ea typeface="Aptos Display"/>
                <a:cs typeface="Aptos Display"/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CF72A-1153-4DAD-ABC7-13CB3868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241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categorias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76899-0074-4518-8266-CB324F05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81E823-6F4B-4F05-80AB-03402CE7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11B78A-9DD7-4665-B8F9-EC788D2C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2628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Conferir no Excel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01BE49-BF5E-45BF-BBC1-570EE56B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628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Arquivo abre, datas vão de 01/01/2023 a 30/06/2023, não há nulos críticos e as colunas têm tipos coerentes.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82CE68-89CD-4765-8187-8ED6E268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7660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042BF3-1F57-4349-A799-4AA6502D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766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F19B60-F4B6-4F37-925C-EACFC431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09950"/>
            <a:ext cx="2628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Variáveis úteis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1B2DEE-A337-4E19-B63F-A22E0FAF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628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Numéricas: quantidade e preço. Categóricas: loja, categoria, tipo e detalhe. Temporais: data e hora.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84DE40-65E7-4EF3-92CF-FF77840A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7660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3C981-A4E3-404B-92DA-74756CDF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766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10CBA3-6BFE-47BB-9803-6005AFA5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09950"/>
            <a:ext cx="2628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Conclusão para falar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0B5AE8-8919-45B2-83E4-BE22AD54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14750"/>
            <a:ext cx="2628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A base atende aos requisitos e permite análise por tempo, loja, produto, categoria e demanda.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D1CE8E-9FC2-421F-B533-29CD6980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Roteiro manual | Coffee Shop Sales DW + ML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DEB45E-9710-4CA5-9C9C-72E6EB20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10848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0F331F-A229-4FDB-9F33-79CE2379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805CA-EDEF-4331-B681-872208B9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PERGUNTA DE NEGÓCIO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5895E-DDCA-48B8-991D-B3EC95AA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23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A pergunta central deve guiar DW, EDA, ML e insights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46A66-231B-48B9-931D-41D49415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DBF8B-398D-4DC5-BA1B-5824AE7A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9982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590DB-6AC4-4FB9-ABE3-8AEF65F4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33600"/>
            <a:ext cx="9182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Quais fatores explicam maior receita e maior demanda por loja, produto, mês, dia da semana e horário?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B2818-3C4B-43D8-BC70-8D872722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2266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414D9-CA05-4B9E-B5CA-D7316B58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0290A-B8A0-4424-BEC5-A571DA4E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5700"/>
            <a:ext cx="1943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DW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3381C-58FF-4D70-B4DA-2298F62F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00500"/>
            <a:ext cx="1943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Organiza vendas por tempo, loja e produto.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7E255-6A29-45DB-93AF-CBAFE167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62350"/>
            <a:ext cx="2266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AB11D-AE46-4905-A499-AB2E5BB1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623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CF9AC-29EE-4F75-B8E8-8AF06A4B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95700"/>
            <a:ext cx="1943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87B43-B84C-45AB-8B06-E8DD22ED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00500"/>
            <a:ext cx="1943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Respondem perguntas analíticas recorrentes.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95DDB-6E95-4EFE-AA1C-DA0EDA6E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62350"/>
            <a:ext cx="2266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1CCBD-6E45-453F-BA51-0BF8D190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623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F6E02-32C1-4F9E-B37A-D3423106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1943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EDA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7EA8FA-D8EA-4A8B-9C83-DAD05E37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1943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Mostra padrões visuais de receita e demanda.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29D1A-AB82-4689-AED8-C7E57BB7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2266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389590-B77F-4F30-80E3-C65D4E6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0516B7-FF37-41B4-84AA-09200207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95700"/>
            <a:ext cx="1943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1887BE-F62F-473F-B8AB-68B07298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1943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Prevê alta demanda e quantidade vendida.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ADCF4C-FD37-4B8C-9A49-42A1A2E3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67350"/>
            <a:ext cx="941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Tudo que vocês fizerem deve voltar para essa pergunta.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A48BB6-3C56-4DF3-83B9-FE04305B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Roteiro manual | Coffee Shop Sales DW + 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1A8822-3227-423D-BA7E-150A677F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61481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EA32C8-AA61-4FA9-B224-9D38158D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EC62E-242B-431B-A2A3-63446DEB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MODELAGEM DIMENSIONAL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53A75-C64D-47B2-919F-53AE1EFE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23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Desenhem o star schema antes de escrever 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06E59-97BB-4D95-9ECB-BE3DEF84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C4942-EA10-4157-90B1-13B9B0F2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33528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2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8FCE9-E820-4DCC-965F-4E21120F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335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30E67-0DD2-449B-AF15-810F0DD3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fato_vendas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10DFF-4B60-405C-A7DE-E03AA822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194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venda_key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4F70E-FC53-464B-9AF8-F6B942FD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765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transacao_id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690E7-DBDC-4379-B8D4-E6FA486A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tempo_key, loja_key, produto_key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E4141-0C7C-4121-82BD-2065679D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909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quantidade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46B0E-4CB0-4380-B9AC-9E06C73E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481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preco_unitario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22861-FB77-4D09-9F48-5EA62711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052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receita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304A4-6F28-4462-85EC-7F46364E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476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FFB5E-B482-4975-B5C9-A04F8790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A7764-B32C-446F-945E-08D60A34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dim_tempo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2E4C6-B0D6-4100-B6C1-83883674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data e hora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8692D-498D-45A6-9915-4B0D44BC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mês e dia da semana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8BE22-1543-4F97-82A8-4494AFF3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fim de semana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8BC3A-3F94-46B1-9333-D012BB51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7657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período do dia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36E9C5-C04F-461F-98A9-13AFA1DA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9750"/>
            <a:ext cx="2476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63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8EE1A-F794-4129-A05A-25AFA449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9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791D26-A4CF-4DEF-8CEB-61A35089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595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dim_loja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8D9196-FA5D-4D0D-B58E-4083326C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050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localização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4AF51A-591F-424A-9879-0C71F44F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6222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cidade e país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16EB4E-A4A7-42C7-BF30-716D859D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194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rede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4C948E-4CD4-48C2-9A26-3A411154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7657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tipo de loja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55448D-A1D3-4BFC-B831-EAD46A95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8C1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66F910-314C-4A34-8D78-C66F3BBA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D2F236-4BFC-4D0A-84A1-0FBF70D9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dim_produto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5F9DF3-A8F2-4F9A-A5E5-730C4CE2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categoria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8FE6DF-1F61-4958-8C5A-34BA5BCF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tipo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D10BF6-71F6-4A83-B07B-A9A11F30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detalhe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77D86F-A69D-4906-BBE9-0FE5C0B5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0547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faixa de preço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54629B-3DE5-49B4-897A-BF9D7C43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717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E8E62C-47F2-417F-8938-9CA9442F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971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2AB12E-E374-4BB9-83B5-BF08BEBB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577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623905-BECB-4AF0-9FE9-A890669A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291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Dimensão degenerada: transacao_id fica na fato porque identifica a venda, mas não exige tabela própria.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0E2BCB-F5D3-4BF2-8184-439B8F28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Roteiro manual | Coffee Shop Sales DW + ML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B64CFB-4ACE-4BE8-B2B0-C802E42B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49433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726CB0-867A-4461-8036-6BC48F82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5617B-EF93-4E6E-B4CE-823385A2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PREPARAÇÃO DOS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75D58-5247-4F60-9E14-6D73199C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23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Façam a transformação entendendo cada coluna criada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6A9A1-386C-4912-B3B5-F9E2376F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7ACA4-A81B-43F0-9B31-5A7FBC15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521AF-1A10-403D-BC9D-458E43AD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8F585-F886-4DB3-84BA-DD7358ED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859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Abrir 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FA9B1-C933-40D7-B8FD-E8D5DA8A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Conferir linhas, colunas, tipos e nulos.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5823D-454B-4E0F-90B3-6242D628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954A6-629A-4BA8-B03F-3359B73A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C0C81-ACFF-4E32-A4B7-CA02D7C1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33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Criar receita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8C134-7322-4453-94AF-493BC268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04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receita = transaction_qty * unit_price.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5FEEB-01AE-46EB-9B31-B23E5E20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C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88CBA-D0DE-4AE3-B010-2C19FDCC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7C760-66E2-4941-B939-B9E55CC6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Extrair tempo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6759C-B3D9-449B-AC5B-795D284A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481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Separar data, hora, mês, dia e período.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92E5A-9956-4BBD-A62B-DEC958F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66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413F8-6088-4C48-B093-86D1B626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0384E-7D69-494D-8EE9-661FBB3B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859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Gerar dimensões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DEAF8-8BFC-41FE-957A-993C131E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526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Tempo, loja e produto com valores únicos.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6F14E-5BEF-4040-9F8A-AF37214D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14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27F284-BB41-4CEE-9217-7B6EBBFA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09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1C07BB-CE80-432A-B953-1CD32EF2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33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Montar fato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8CCDC-A233-4130-8FE8-F2558CF7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004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Chaves mais medidas e transacao_id.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22D431-6E03-4F4A-BB3F-9A556603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62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376B59-9CCB-4DBE-A3B9-91AA8A83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57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065B9C-AB20-49AB-9CE4-D7A913B4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814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Validar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AAD2FF-404A-4539-9053-FAC9C400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481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A fato precisa ter 149.116 linhas.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DDB169-CF83-40CC-B97C-C6572730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67350"/>
            <a:ext cx="887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Só passem para o PostgreSQL depois que os CSVs finais estiverem coerentes.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0009DE-0619-4133-B631-783CFB67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Roteiro manual | Coffee Shop Sales DW + ML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8059F6-5208-4BB4-8EC3-79ADEE6E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916118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757A96-A524-4A01-A685-883A1879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3089D-3345-4DC2-84C9-4031362F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929E3-23BC-4190-982D-63063EA3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23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A ordem importa: dimensões entram antes da fato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1B7C2-0317-4AF2-A48B-E7F22C85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7FB15-18CB-40B2-A6AF-095DCB90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5CDD5-3814-42BE-BEDF-BD7DA7B3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89A91-2A13-4991-9A6D-7A59A3A7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859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Criar banco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88E5A-F6B1-4597-B715-3C5AEEE2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526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coffee_shop_dw e schema coffee_dw.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843E8-FE83-41D5-8E1B-7B709989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FF2B6-2FFD-4C2F-8125-C642D276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9C02B-5B14-414F-85AE-8731C1CD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Criar tabelas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13A5C-A3EA-473C-88D4-1F6623C8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051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dimensões, fato, PKs, FKs e índices.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DE4D4-0CE8-48EA-A9FD-755D044B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C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CC259-4EF6-4B3C-AE00-0748C4D8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52933-8D03-4C8D-9905-E3A6E19F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909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Carregar dados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E861B-E8AC-4DB3-B79E-06C358E3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576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primeiro dimensões, depois fato_vendas.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231CA-AED0-4BB0-9E45-72603C63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C6B1F-465A-4E5B-8C97-1C749951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D3420-EA4A-437E-A45B-A5A2C022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Criar views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E3B00-D59B-498E-A91B-5CC3A986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01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receita mensal, demanda horária e ranking.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6A294-4EAA-4B85-911A-76B5279C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390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785BFE-505B-47AC-BB4B-05AF07F3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9C6AF-E3D2-4774-A6F7-DA41316B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9800"/>
            <a:ext cx="3581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View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736872-3FEE-424C-9005-34AED506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3581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Receita mensal por loja e categoria: mostra receita, quantidade, preço médio e transações.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8D4B13-B28D-4AFB-BA95-912A0746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390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9BFE34-4932-4BDB-9C03-A03CB84A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19D9B7-8D16-42EF-982D-8118BC48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76650"/>
            <a:ext cx="3581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View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BD393F-063B-4E50-B1A1-C95F9AEF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81450"/>
            <a:ext cx="3581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Demanda por hora e produto: mostra picos por dia, hora, loja, categoria e tipo de produto.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C65E5B-8986-4C61-8AD2-F1E6C1D2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Roteiro manual | Coffee Shop Sales DW + ML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E40365-38F2-4F5C-A8BD-2FC575DD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183442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4F8A26-C425-4512-AC3C-0DA1F3BD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F975C-B581-47FD-9C4C-EDB3D426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VALIDAÇÕES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8D2F6-D1FE-4EAB-AC6C-927BD4AA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23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O projeto precisa provar que os dados carregaram certo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F45EB-F469-4F15-AA06-999A43E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AEAB3-0B26-4128-A811-49C348A3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2971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BA5F7-2DE4-411E-A544-73473929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EAE10-3A4F-4149-AD5F-65E514CD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647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Linhas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522B1-E92C-4D5B-9003-60B65728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647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fato_vendas deve ter 149.116 registros, igual ao dataset original.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9DCCC-60EC-4021-BD94-E2C8AAE2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66900"/>
            <a:ext cx="2971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DE834-0AC4-4F5D-92F1-ED791C4D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669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3B424-373E-4E06-9387-C56B8F9A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647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Receita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43864-0AB9-444A-89D3-70D2A956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05050"/>
            <a:ext cx="2647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Toda linha deve obedecer: receita = quantidade * preco_unitario.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81AAA-769E-4145-BE60-64556C4F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66900"/>
            <a:ext cx="2971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17916-7D74-49BA-A038-D7273D3D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669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D1F8F-5938-46F0-8309-D24A35B0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2647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Dimensões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D6023-D524-4E29-A213-12547DE4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2647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dim_loja deve ter 3 lojas e dim_produto deve ter 80 produtos.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4DB5E-0BA0-4031-B669-13A2A236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14A45-612A-4836-B4D4-1C5E95BD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290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As views devem retornar resultados e não podem ficar vazias.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7D737-EBA2-462E-A440-42974467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85EE5-64E5-48B1-9F51-AC284792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434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Não pode existir chave na fato sem correspondência nas dimensões.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86179D-95A2-4A90-90A2-7C788E95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33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04EA3-1ADE-42E8-BE78-648F22D9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Guardem prints ou resultados das consultas para justificar a implementação.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06BA1-C717-461D-8576-5C8681B4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Roteiro manual | Coffee Shop Sales DW + 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F4F69A-EFA2-471C-99B6-53209DAA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852495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3E9DCA-8628-4B89-90DB-ABBCF265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F4DAB-B523-4422-A86D-AB6D6B6A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EDA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D1755-D94F-4D0D-8D2C-6D8081AA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23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A análise exploratória precisa cobrir métricas e gráficos obrigatórios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C6E2E-BF55-4039-B1B8-A003B806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730DE-88F3-494B-BFDA-4E3C662A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219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FD81C-A11D-4C9D-BF7C-35F7B803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D81F4-3FA1-45B6-9825-0FB334DF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895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Métricas gerais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7D996-7EA9-4F57-ACE6-CABF113D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895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Receita total, itens vendidos, número de lojas, produtos, categorias, loja líder, categoria líder e horário de pico.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0C821-1FEE-4CCD-B57E-7A30BB07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19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490C5-50BF-4829-AF85-C8A4B535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C44FF-7FF6-44C6-97B4-E17CCB9F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2895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Distribuição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22050-BB9B-41FA-B491-697FFC34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47900"/>
            <a:ext cx="2895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Quantidade por transação, preço unitário, receita por transação ou distribuição por horário.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91D41-0B70-4EE0-8688-63675BF6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219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F1DFF-9296-4D07-95D7-A8BA9F51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1F7CD-0BBB-4D91-AE45-A58966D0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2895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Comparação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A4D27-DB7F-4015-B1E3-6489A3E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2895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Receita por loja, receita por categoria, quantidade por categoria ou receita por tipo de produto.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F416B-ACE2-433D-B18F-34D56948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48100"/>
            <a:ext cx="3219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53D8A-6F6E-469B-A5AF-41FF11D7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4810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45C97-7EA1-4BA1-BFC4-FB22CB62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81450"/>
            <a:ext cx="2895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Evolução temporal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C81AE-4A54-4DF9-B070-4E2FF8F7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86250"/>
            <a:ext cx="2895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Receita mensal de janeiro a junho para mostrar crescimento, queda ou variação no tempo.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BEA66-A41B-4214-9BA0-F9CE8A6C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3219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DB50BF-4354-469B-91D9-2791BA3C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4B2C4-B17B-4A66-B937-9C67A520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81450"/>
            <a:ext cx="2895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Extra forte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3D8118-AAC2-4DD8-A778-9A755FB9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86250"/>
            <a:ext cx="2895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Demanda por hora e loja. Esse gráfico sustenta decisões de equipe e estoque.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859DA8-8CA0-4D22-9C8A-497E7DDE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Roteiro manual | Coffee Shop Sales DW + 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E0486-6495-4CB5-87C7-1B21424C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27536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6A6EAE-6020-4A9B-97F7-A289B09A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E8590-4926-4623-AD23-2500CB4F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57EF8-B19E-48D8-A9E5-02E75EE0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23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Transformem transações em previsão de demanda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F7F51-95CC-41AE-A7FE-261F7DBE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4E0A3-E0B7-4256-8384-546763ED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05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5B9D0-BE62-462E-9A2F-1FF700A7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D569C-76D6-496D-817E-7B6AF6E0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781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Base agregada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58702-1AC2-4630-A2DE-0B174B3E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781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Agrupar por data, hora, loja, categoria e tipo de produto. Criar quantidade_vendida, receita, preço médio e transações.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45B2C-729C-4401-9AAB-59E7926D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3105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3A91B-FA02-4133-B96B-73EF0B3A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3A4A1-E9D1-4951-9F9A-66CD4897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43100"/>
            <a:ext cx="2781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Classificação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73124-4FEC-4EB6-B2C1-AF4DFBF7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47900"/>
            <a:ext cx="2781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Target: alta_demanda. Definir alta demanda como quantidade vendida acima ou igual ao quartil 75.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6D579-E701-4A23-8148-E3D1EFA7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05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9666B-0E59-44F4-8918-9DF53F5D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9608D-F604-447A-AF06-9B9584D4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43100"/>
            <a:ext cx="2781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Regressão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AC15D-D48F-4DD2-9FB7-66882BC3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2781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Target: quantidade_vendida. Usar Regressão Linear para prever demanda numérica.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85E17-BF89-42CA-A293-A16C9BD6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F0C5F-C92C-44CD-B06E-643FC2D7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9575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Separar treino e teste antes de avaliar qualquer modelo.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753F6-70E7-4343-A798-AEBD78E7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67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7BA59-7248-4742-ACC0-6A2CEB70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Aplicar one-hot encoding nas variáveis categóricas.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FAA4AC-8317-4E73-AF18-77CC90F5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62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EBFAB-B521-453B-B9D5-41832E34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8635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Padronizar variáveis numéricas quando necessário, especialmente para KNN e regressão logística.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39274-20F6-405D-B48A-C04284DD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Roteiro manual | Coffee Shop Sales DW + 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74CF2-39DA-4E80-8717-D3B27CCA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7292687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976BF3-894A-48A9-9399-7ACF0562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1759A-FAFA-4EAC-A685-D18BE0C9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COMPARAÇÃO DE MODELOS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8889B-8B9F-4ABF-8DC2-E587D763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23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Mostrem métricas, escolham o melhor e expliquem o motivo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635E0-ABD8-4424-84BA-56D8C90E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2CF9E-B98A-482B-A3EB-6A8E87BE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6F30F-8D08-4E66-AAB2-41C72378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18840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2B916-D600-4A16-A2E8-8AD57932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1962150"/>
            <a:ext cx="172021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F1-score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9B367-1B67-45E2-8717-3DB89595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C8B14-3E5E-4689-9098-6741E3F2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8840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KNN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B52C4-D1B1-4D92-AFB6-5ED58604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2286000"/>
            <a:ext cx="172021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0.5329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C8302-365E-48E2-8FBC-55919BFD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7658D-A23F-41DF-886D-4AFE519A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8840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Árvore de Decisão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51A57-1B05-4115-8FCC-25D7E6C1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2609850"/>
            <a:ext cx="172021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0.7143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5FD90-EBDD-4DCB-949C-F788407E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5BE3B-96F7-4F41-826B-06170F4F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18840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10605-7C75-4241-8808-37AE6EE3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2933700"/>
            <a:ext cx="172021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0.6548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75836-B36C-42FC-B42E-ABBA655F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E9295-3AF3-4F31-B3F7-962D6819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18840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451B5-5F11-4004-9CB7-81B112DD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3257550"/>
            <a:ext cx="172021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0.4915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ACE9D-0204-41E7-813A-AB63260B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8595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6066D-2E79-4BA8-AA7C-B36B61AC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859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5D7FB7-8957-472D-995A-798F56B8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19300"/>
            <a:ext cx="4438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Melhor classificador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561644-5A6D-4D95-A06A-CB24B90E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24100"/>
            <a:ext cx="4438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Árvore de Decisão: melhor F1-score. Ela captura regras combinadas de horário, loja e produto.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F815D4-FE51-4ACC-B605-E7406619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9090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97151C-14BD-41FC-AC16-0675A30E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909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FBBCE-B617-44A2-B9EA-135BBAD1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24250"/>
            <a:ext cx="4438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Regressão Linear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03B786-52D9-4BEE-B959-A99C4FE5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29050"/>
            <a:ext cx="4438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MAE 1.6091, RMSE 2.2356 e R² 0.2464. O desempenho limitado indica relações não lineares e variáveis ausentes.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A5A6A1-0515-4BC1-8760-107623CA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76850"/>
            <a:ext cx="922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Resposta obrigatória: qual modelo foi melhor, por quê, e como os dados influenciaram o resultado.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14F15A-BFE0-4591-9BD3-5B3237E4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Roteiro manual | Coffee Shop Sales DW + ML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1B98D8-E119-476C-959E-4F1BD3EE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756456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88A9F5-3654-49AD-9BE1-F8F06F92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73E6D-9A68-4435-BC93-3BC156D5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INSIGHTS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E2721-EA2F-4975-BD08-1C06749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23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Cada insight precisa virar uma decisão de negócio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577BC-A379-4F8F-81C0-E4548F6D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7FE3E-8AEB-4B1F-A419-79EE36AF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6B9EB-8C9C-4CBA-BC3B-BE9E078C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86D3C-A4A1-4CD2-9C4F-BEDECCEA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Hell's Kitchen lidera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D156F-6C96-4265-A61C-F22B33E6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Priorizar estoque, equipe e disponibilidade dos produtos mais vendidos nessa loja.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47859-87DE-4EE0-BB7D-9944287C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B7E94-2410-4955-A3FA-EFBF061B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B2085-CC54-4A35-B2D1-7198394C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43100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Pico às 10h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76D5F-748D-4685-822D-C4135A0F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4790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Reforçar equipe e pré-preparo no período da manhã.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451E6-ECB7-4367-86AA-80850D37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D3AD4-1DE9-495F-9DF7-0E14CCF7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B0E71-2B38-4E28-9BC6-CB392838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43100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Coffee lidera receita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36559-09F7-43DA-8B87-FE36A508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4790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Tratar Coffee como categoria âncora do mix.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C49D4-E4B7-45A0-AB43-306BD196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195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DC8F8-787D-49D3-A669-8C06DBAF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19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16713-5055-4D6F-A1AD-86A81B7E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52850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Barista Espresso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8B697A-5393-49A3-98FE-083B4E7D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576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Usar como produto de receita e destaque em combos premium.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A4F8E-93DA-4EDE-B9D4-89C3D7A2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195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66D19-7D3E-4F0D-8DA0-A5FEA0B2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19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AD0F9C-8866-47C6-B0C1-0CDBDED1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Brewed Chai tea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33108A-BF4D-4535-9D4A-EE2DB853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576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Usar como produto de alto giro para venda cruzada.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A2840C-BAA1-45DE-A7DE-FB2E206F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673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Evitem insight descritivo demais: sempre terminem com uma ação recomendada.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8D7631-051A-4545-B9C2-649A3A65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Roteiro manual | Coffee Shop Sales DW + ML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0CA1B2-2922-4027-9AEA-07F41CCD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7143471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DB6080-B17B-4A54-BC1D-EF05C1A3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099C0-04C6-4AA4-9F74-A5793F68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DIVISÃO DA FALA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8653F-E777-400C-ADDC-8EAB2904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23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Duas pessoas, uma narrativa só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8EAAD-FCF4-4709-B4D2-497C0BE1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5B301-E28D-497E-8CA5-1ADF9436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4095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39E19-F415-4EC6-AAD0-C067630D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D1B73-4348-4893-99A4-4FB318F3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3771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Pessoa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AE2B8-CFEC-4549-9676-9FBFB4DB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3771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Objetivo do projeto, dataset, requisitos atendidos, modelagem dimensional, PostgreSQL, tabela fato, dimensões e views.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Tempo sugerido: 5 a 7 minutos.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6B762-C40C-4638-A8D1-4E24C56E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4095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0726A-E474-4DB6-ABA5-671336BE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9406F-C63E-4450-9088-295AFF7A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0250"/>
            <a:ext cx="3771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Pessoa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A4B21-DD4F-433C-A7ED-E8792E17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3771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Análise exploratória, gráficos, Machine Learning, comparação dos modelos, insights e recomendações finais.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Tempo sugerido: 5 a 7 minutos.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E5C91-010F-4464-8AD2-9C0BD29F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C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80065-BF87-4810-9F4A-B7999097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8605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10-15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6BD66-D801-42FB-97BE-DCEE38A6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0"/>
            <a:ext cx="933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minutos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CB397-C944-48BB-A831-8C7D7190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Ambos participam da abertura, conclusão e perguntas do professor.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D2CD6-B495-4D68-A5A8-00CDA82F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Roteiro manual | Coffee Shop Sales DW + 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5FF71-82FC-44C6-B9CF-9027491C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372292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A08655-795B-4481-A7E6-BFB9A70A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98674-916D-467F-8DAB-6C57BD82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CHECKLIST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BAD72-3DDC-4815-BBA7-B9CA3120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23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Antes de entregar, passem por esta lista sem pular item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7817A-1922-4AAE-8C74-3015A418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3D497-5C49-434C-B236-613F44D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BDB23-E1CB-46E8-94DC-0FDAF0DD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Dataset na pasta, notebook abre e scripts SQL estão organizados.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DACE3-27F7-47E9-A499-6ECECD15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E5860-3F9D-4186-AD76-4813B2E5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Banco criado, tabelas carregadas, views funcionando e validações conferidas.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12B5C-1A2A-4D05-BD6B-EB16F204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C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2849D-389C-48C9-A393-888D05F4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Gráficos de distribuição, comparação e evolução temporal aparecem no notebook.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11E15-A9D6-471A-9468-8C1DE761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250CB-C8A0-48DC-899C-1AB16CA7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Todos os modelos obrigatórios foram treinados e avaliados.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8B235-EDAC-4195-AEB0-542BDE61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DCF9F-B6CB-43B4-AECD-742BA468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Matriz de confusão, comparação dos modelos e regressão linear estão explicadas.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6D118-5685-4011-A82A-2400C3CA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B4D2D-D1FF-4237-9BEF-AC41BB46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3 a 5 insights têm decisão de negócio associada.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904F0-42D9-4F1B-9559-FFE3AEAB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6C072-AC89-4FA5-97C2-BE567AED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Slides prontos, fala dividida e apresentação ensaiada em 10 a 15 minutos.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D6694-81C3-4DEF-8446-A464FAA5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28850"/>
            <a:ext cx="3105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BD529-F1A0-4D8B-8285-C3BF1FEB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Conclusão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981EE-2B02-4C9B-99C4-EA8BC03C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7EDF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7EDF4"/>
                </a:solidFill>
                <a:latin typeface="Aptos"/>
                <a:ea typeface="Aptos"/>
                <a:cs typeface="Aptos"/>
              </a:rPr>
              <a:t>DW organiza o dado, EDA revela padrões e ML transforma padrões em previsão.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8FE7B1-4450-49D7-A1F7-AFBC82C0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Roteiro manual | Coffee Shop Sales DW + ML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912AD-31BD-44E6-A4AA-3A389554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D68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54523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2026-05-17T18:20:47.1600000Z</dcterms:created>
  <dcterms:modified xsi:type="dcterms:W3CDTF">2026-05-17T18:20:47.1600000Z</dcterms:modified>
</coreProperties>
</file>